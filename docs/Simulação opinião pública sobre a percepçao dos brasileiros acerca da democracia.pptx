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5"/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  <p:embeddedFont>
      <p:font typeface="Manrope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21E0E5-0763-43FB-9931-AFBFB8CBDC93}">
  <a:tblStyle styleId="{8321E0E5-0763-43FB-9931-AFBFB8CBDC9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4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3.xml"/><Relationship Id="rId21" Type="http://schemas.openxmlformats.org/officeDocument/2006/relationships/font" Target="fonts/Nunito-italic.fntdata"/><Relationship Id="rId13" Type="http://schemas.openxmlformats.org/officeDocument/2006/relationships/slide" Target="slides/slide6.xml"/><Relationship Id="rId24" Type="http://schemas.openxmlformats.org/officeDocument/2006/relationships/font" Target="fonts/Manrope-bold.fntdata"/><Relationship Id="rId12" Type="http://schemas.openxmlformats.org/officeDocument/2006/relationships/slide" Target="slides/slide5.xml"/><Relationship Id="rId23" Type="http://schemas.openxmlformats.org/officeDocument/2006/relationships/font" Target="fonts/Manrope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Nunito-regular.fntdata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5ef8f9d8a_1_17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5ef8f9d8a_1_19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47067a32f_0_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861eb9d6c_1_3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47067a32f_0_13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5ef8f9d8a_1_28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6d569a73c_0_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6d569a73c_0_3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861eb9d6c_1_1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5ef8f9d8a_1_38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C">
  <p:cSld name="TITLE_AND_BODY_2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2757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2757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pic"/>
          </p:nvPr>
        </p:nvSpPr>
        <p:spPr>
          <a:xfrm>
            <a:off x="429834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E">
  <p:cSld name="TITLE_AND_BODY_2_1_1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5145700" y="226400"/>
            <a:ext cx="3651900" cy="10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45700" y="1598500"/>
            <a:ext cx="3651900" cy="33186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4"/>
          <p:cNvSpPr/>
          <p:nvPr>
            <p:ph idx="2" type="pic"/>
          </p:nvPr>
        </p:nvSpPr>
        <p:spPr>
          <a:xfrm>
            <a:off x="204047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A">
  <p:cSld name="TITLE_AND_BODY_2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5"/>
          <p:cNvSpPr txBox="1"/>
          <p:nvPr>
            <p:ph type="title"/>
          </p:nvPr>
        </p:nvSpPr>
        <p:spPr>
          <a:xfrm>
            <a:off x="327575" y="340500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327575" y="1616646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D">
  <p:cSld name="TITLE_AND_BODY_2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/>
          <p:nvPr>
            <p:ph idx="2" type="pic"/>
          </p:nvPr>
        </p:nvSpPr>
        <p:spPr>
          <a:xfrm>
            <a:off x="29629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type="title"/>
          </p:nvPr>
        </p:nvSpPr>
        <p:spPr>
          <a:xfrm>
            <a:off x="515192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515192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G">
  <p:cSld name="TITLE_AND_BODY_2_1_1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>
            <p:ph idx="2" type="pic"/>
          </p:nvPr>
        </p:nvSpPr>
        <p:spPr>
          <a:xfrm>
            <a:off x="507438" y="15345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8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TITLEANDBULLETS_B">
  <p:cSld name="CUSTOM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/>
          <p:nvPr>
            <p:ph idx="2" type="pic"/>
          </p:nvPr>
        </p:nvSpPr>
        <p:spPr>
          <a:xfrm>
            <a:off x="301750" y="2276800"/>
            <a:ext cx="2533200" cy="2532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19"/>
          <p:cNvSpPr txBox="1"/>
          <p:nvPr>
            <p:ph type="title"/>
          </p:nvPr>
        </p:nvSpPr>
        <p:spPr>
          <a:xfrm>
            <a:off x="301750" y="310900"/>
            <a:ext cx="26982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/>
        </p:nvSpPr>
        <p:spPr>
          <a:xfrm>
            <a:off x="3252541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8" name="Google Shape;78;p19"/>
          <p:cNvSpPr txBox="1"/>
          <p:nvPr/>
        </p:nvSpPr>
        <p:spPr>
          <a:xfrm>
            <a:off x="3252541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9" name="Google Shape;79;p19"/>
          <p:cNvSpPr txBox="1"/>
          <p:nvPr/>
        </p:nvSpPr>
        <p:spPr>
          <a:xfrm>
            <a:off x="6160333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3" type="body"/>
          </p:nvPr>
        </p:nvSpPr>
        <p:spPr>
          <a:xfrm>
            <a:off x="6647122" y="374904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4" type="body"/>
          </p:nvPr>
        </p:nvSpPr>
        <p:spPr>
          <a:xfrm>
            <a:off x="6647122" y="2093976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p19"/>
          <p:cNvSpPr txBox="1"/>
          <p:nvPr/>
        </p:nvSpPr>
        <p:spPr>
          <a:xfrm>
            <a:off x="6160333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4" name="Google Shape;84;p19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H">
  <p:cSld name="TITLE_AND_BODY_2_1_1_1_1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/>
          <p:nvPr>
            <p:ph idx="2" type="pic"/>
          </p:nvPr>
        </p:nvSpPr>
        <p:spPr>
          <a:xfrm>
            <a:off x="5545938" y="15193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20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Quarterly business review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284700" y="1782325"/>
            <a:ext cx="42873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283475" y="420225"/>
            <a:ext cx="73233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00">
          <p15:clr>
            <a:schemeClr val="accent3"/>
          </p15:clr>
        </p15:guide>
        <p15:guide id="2" orient="horz" pos="300">
          <p15:clr>
            <a:schemeClr val="accent3"/>
          </p15:clr>
        </p15:guide>
        <p15:guide id="3" orient="horz" pos="899">
          <p15:clr>
            <a:schemeClr val="accent3"/>
          </p15:clr>
        </p15:guide>
        <p15:guide id="4" pos="1561">
          <p15:clr>
            <a:schemeClr val="accent3"/>
          </p15:clr>
        </p15:guide>
        <p15:guide id="5" pos="1619">
          <p15:clr>
            <a:schemeClr val="accent3"/>
          </p15:clr>
        </p15:guide>
        <p15:guide id="6" orient="horz" pos="962">
          <p15:clr>
            <a:schemeClr val="accent3"/>
          </p15:clr>
        </p15:guide>
        <p15:guide id="7" orient="horz" pos="1561">
          <p15:clr>
            <a:schemeClr val="accent3"/>
          </p15:clr>
        </p15:guide>
        <p15:guide id="8" orient="horz" pos="1619">
          <p15:clr>
            <a:schemeClr val="accent3"/>
          </p15:clr>
        </p15:guide>
        <p15:guide id="9" orient="horz" pos="2281">
          <p15:clr>
            <a:schemeClr val="accent3"/>
          </p15:clr>
        </p15:guide>
        <p15:guide id="10" orient="horz" pos="2339">
          <p15:clr>
            <a:schemeClr val="accent3"/>
          </p15:clr>
        </p15:guide>
        <p15:guide id="11" orient="horz" pos="2943">
          <p15:clr>
            <a:schemeClr val="accent3"/>
          </p15:clr>
        </p15:guide>
        <p15:guide id="12" pos="1981">
          <p15:clr>
            <a:schemeClr val="accent5"/>
          </p15:clr>
        </p15:guide>
        <p15:guide id="13" pos="2039">
          <p15:clr>
            <a:schemeClr val="accent5"/>
          </p15:clr>
        </p15:guide>
        <p15:guide id="14" pos="2880">
          <p15:clr>
            <a:schemeClr val="accent3"/>
          </p15:clr>
        </p15:guide>
        <p15:guide id="15" pos="2938">
          <p15:clr>
            <a:schemeClr val="accent3"/>
          </p15:clr>
        </p15:guide>
        <p15:guide id="16" pos="3721">
          <p15:clr>
            <a:schemeClr val="accent5"/>
          </p15:clr>
        </p15:guide>
        <p15:guide id="17" pos="3779">
          <p15:clr>
            <a:schemeClr val="accent5"/>
          </p15:clr>
        </p15:guide>
        <p15:guide id="18" pos="4141">
          <p15:clr>
            <a:schemeClr val="accent3"/>
          </p15:clr>
        </p15:guide>
        <p15:guide id="19" pos="4199">
          <p15:clr>
            <a:schemeClr val="accent3"/>
          </p15:clr>
        </p15:guide>
        <p15:guide id="20" pos="5460">
          <p15:clr>
            <a:schemeClr val="accent3"/>
          </p15:clr>
        </p15:guide>
        <p15:guide id="21" pos="179">
          <p15:clr>
            <a:schemeClr val="accent1"/>
          </p15:clr>
        </p15:guide>
        <p15:guide id="22" pos="5581">
          <p15:clr>
            <a:schemeClr val="accent1"/>
          </p15:clr>
        </p15:guide>
        <p15:guide id="23" orient="horz" pos="179">
          <p15:clr>
            <a:schemeClr val="accent1"/>
          </p15:clr>
        </p15:guide>
        <p15:guide id="24" orient="horz" pos="3059">
          <p15:clr>
            <a:schemeClr val="accent1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ctrTitle"/>
          </p:nvPr>
        </p:nvSpPr>
        <p:spPr>
          <a:xfrm>
            <a:off x="311700" y="744575"/>
            <a:ext cx="8520600" cy="293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Simulação opinião pública sobre a percepção dos brasileiros acerca da democracia</a:t>
            </a:r>
            <a:endParaRPr/>
          </a:p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311700" y="4002750"/>
            <a:ext cx="8520600" cy="9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Mestrado Profissional em Computa</a:t>
            </a:r>
            <a:r>
              <a:rPr lang="pt-BR"/>
              <a:t>ção Aplicada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</a:rPr>
              <a:t>Lucas Nascimento Aguiar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</a:rPr>
              <a:t>Matheus dos Santos Moreira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-438500" y="0"/>
            <a:ext cx="28125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22</a:t>
            </a:r>
            <a:r>
              <a:rPr lang="pt-BR" sz="2500"/>
              <a:t>/04/2026</a:t>
            </a:r>
            <a:endParaRPr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507450" y="1693800"/>
            <a:ext cx="7108500" cy="175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Aplicar modelos de linguagem na simulação de pesquisas de opinião;</a:t>
            </a:r>
            <a:endParaRPr/>
          </a:p>
          <a:p>
            <a:pPr indent="-317500" lvl="0" marL="457200" rtl="0" algn="l">
              <a:spcBef>
                <a:spcPts val="250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Comparar os resultados de desempenho entre modelos de aprendizagem supervisionada e LLM;</a:t>
            </a:r>
            <a:endParaRPr/>
          </a:p>
          <a:p>
            <a:pPr indent="-317500" lvl="0" marL="457200" rtl="0" algn="l">
              <a:spcBef>
                <a:spcPts val="2500"/>
              </a:spcBef>
              <a:spcAft>
                <a:spcPts val="2500"/>
              </a:spcAft>
              <a:buSzPts val="1400"/>
              <a:buChar char="●"/>
            </a:pPr>
            <a:r>
              <a:rPr lang="pt-BR"/>
              <a:t>Discutir resultados sobre viabilidade prática do objetivo;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idx="1" type="body"/>
          </p:nvPr>
        </p:nvSpPr>
        <p:spPr>
          <a:xfrm>
            <a:off x="5230825" y="1426475"/>
            <a:ext cx="3913200" cy="28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Objetivo: Levantar a percepção dos brasileiros acerca da democracia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Universo: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Território Brasileiro;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População de 16 anos ou mais;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Amostragem extratificada em regiões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Representatividade socioeconômica e formação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Número de amostras (n): 2000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Fonte: CESOP / IPEC</a:t>
            </a:r>
            <a:endParaRPr/>
          </a:p>
        </p:txBody>
      </p:sp>
      <p:sp>
        <p:nvSpPr>
          <p:cNvPr id="105" name="Google Shape;105;p23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06" name="Google Shape;106;p23"/>
          <p:cNvSpPr txBox="1"/>
          <p:nvPr>
            <p:ph type="title"/>
          </p:nvPr>
        </p:nvSpPr>
        <p:spPr>
          <a:xfrm>
            <a:off x="507450" y="903650"/>
            <a:ext cx="4631400" cy="62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D9D9D9"/>
                </a:solidFill>
              </a:rPr>
              <a:t>Base de dados e pesquisa de opinião</a:t>
            </a:r>
            <a:endParaRPr sz="2200">
              <a:solidFill>
                <a:srgbClr val="D9D9D9"/>
              </a:solidFill>
            </a:endParaRPr>
          </a:p>
        </p:txBody>
      </p:sp>
      <p:grpSp>
        <p:nvGrpSpPr>
          <p:cNvPr id="107" name="Google Shape;107;p23"/>
          <p:cNvGrpSpPr/>
          <p:nvPr/>
        </p:nvGrpSpPr>
        <p:grpSpPr>
          <a:xfrm>
            <a:off x="507457" y="1426466"/>
            <a:ext cx="4319997" cy="2880001"/>
            <a:chOff x="507457" y="1367166"/>
            <a:chExt cx="4319997" cy="2880001"/>
          </a:xfrm>
        </p:grpSpPr>
        <p:pic>
          <p:nvPicPr>
            <p:cNvPr id="108" name="Google Shape;108;p23" title="Pontos marcado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7457" y="2807167"/>
              <a:ext cx="2160000" cy="1439999"/>
            </a:xfrm>
            <a:prstGeom prst="rect">
              <a:avLst/>
            </a:pr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09" name="Google Shape;109;p23" title="Pontos marcado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7457" y="1367166"/>
              <a:ext cx="2160000" cy="1439999"/>
            </a:xfrm>
            <a:prstGeom prst="rect">
              <a:avLst/>
            </a:pr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10" name="Google Shape;110;p23" title="Pontos marcado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67454" y="1367166"/>
              <a:ext cx="2160000" cy="1439999"/>
            </a:xfrm>
            <a:prstGeom prst="rect">
              <a:avLst/>
            </a:pr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11" name="Google Shape;111;p23" title="Pontos marcado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67454" y="2807167"/>
              <a:ext cx="2160000" cy="1439999"/>
            </a:xfrm>
            <a:prstGeom prst="rect">
              <a:avLst/>
            </a:pr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sp>
        <p:nvSpPr>
          <p:cNvPr id="112" name="Google Shape;112;p23"/>
          <p:cNvSpPr txBox="1"/>
          <p:nvPr/>
        </p:nvSpPr>
        <p:spPr>
          <a:xfrm>
            <a:off x="1959450" y="4578425"/>
            <a:ext cx="522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*CESOP: Centro de Estudos de Opinião Pública</a:t>
            </a:r>
            <a:endParaRPr sz="12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**IPEC: Inteligência em Pesquisa e Consultoria Estratégica</a:t>
            </a:r>
            <a:endParaRPr sz="12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17" name="Google Shape;117;p24"/>
          <p:cNvSpPr txBox="1"/>
          <p:nvPr>
            <p:ph type="title"/>
          </p:nvPr>
        </p:nvSpPr>
        <p:spPr>
          <a:xfrm>
            <a:off x="507450" y="903650"/>
            <a:ext cx="6874500" cy="62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80">
                <a:solidFill>
                  <a:srgbClr val="D9D9D9"/>
                </a:solidFill>
              </a:rPr>
              <a:t>Preparação dos Dados</a:t>
            </a:r>
            <a:endParaRPr sz="1880">
              <a:solidFill>
                <a:srgbClr val="D9D9D9"/>
              </a:solidFill>
            </a:endParaRPr>
          </a:p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19" name="Google Shape;119;p24"/>
          <p:cNvSpPr txBox="1"/>
          <p:nvPr/>
        </p:nvSpPr>
        <p:spPr>
          <a:xfrm>
            <a:off x="803263" y="2713675"/>
            <a:ext cx="72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 = 2000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0" name="Google Shape;120;p24"/>
          <p:cNvSpPr txBox="1"/>
          <p:nvPr/>
        </p:nvSpPr>
        <p:spPr>
          <a:xfrm>
            <a:off x="1912988" y="2096663"/>
            <a:ext cx="1095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90%</a:t>
            </a:r>
            <a:r>
              <a:rPr lang="pt-BR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treinamento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1" name="Google Shape;121;p24"/>
          <p:cNvSpPr txBox="1"/>
          <p:nvPr/>
        </p:nvSpPr>
        <p:spPr>
          <a:xfrm>
            <a:off x="1980488" y="3279713"/>
            <a:ext cx="9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b="1" lang="pt-BR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0%</a:t>
            </a:r>
            <a:r>
              <a:rPr lang="pt-BR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validação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2" name="Google Shape;122;p24"/>
          <p:cNvSpPr/>
          <p:nvPr/>
        </p:nvSpPr>
        <p:spPr>
          <a:xfrm>
            <a:off x="3469461" y="1823225"/>
            <a:ext cx="5134800" cy="1440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3" name="Google Shape;123;p24"/>
          <p:cNvSpPr/>
          <p:nvPr/>
        </p:nvSpPr>
        <p:spPr>
          <a:xfrm>
            <a:off x="2940788" y="1669263"/>
            <a:ext cx="427200" cy="1747500"/>
          </a:xfrm>
          <a:prstGeom prst="rightArrow">
            <a:avLst>
              <a:gd fmla="val 71837" name="adj1"/>
              <a:gd fmla="val 63536" name="adj2"/>
            </a:avLst>
          </a:prstGeom>
          <a:solidFill>
            <a:srgbClr val="EFEFE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4" name="Google Shape;124;p24"/>
          <p:cNvSpPr/>
          <p:nvPr/>
        </p:nvSpPr>
        <p:spPr>
          <a:xfrm>
            <a:off x="4945388" y="2065838"/>
            <a:ext cx="1381800" cy="3573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Nunito"/>
                <a:ea typeface="Nunito"/>
                <a:cs typeface="Nunito"/>
                <a:sym typeface="Nunito"/>
              </a:rPr>
              <a:t>OneHotEncoder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5" name="Google Shape;125;p24"/>
          <p:cNvSpPr/>
          <p:nvPr/>
        </p:nvSpPr>
        <p:spPr>
          <a:xfrm>
            <a:off x="4945388" y="2631125"/>
            <a:ext cx="1381800" cy="3573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Nunito"/>
                <a:ea typeface="Nunito"/>
                <a:cs typeface="Nunito"/>
                <a:sym typeface="Nunito"/>
              </a:rPr>
              <a:t>Ordinal</a:t>
            </a:r>
            <a:r>
              <a:rPr lang="pt-BR" sz="1200">
                <a:latin typeface="Nunito"/>
                <a:ea typeface="Nunito"/>
                <a:cs typeface="Nunito"/>
                <a:sym typeface="Nunito"/>
              </a:rPr>
              <a:t>Encoder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6" name="Google Shape;126;p24"/>
          <p:cNvSpPr/>
          <p:nvPr/>
        </p:nvSpPr>
        <p:spPr>
          <a:xfrm>
            <a:off x="4473663" y="2214563"/>
            <a:ext cx="427200" cy="657300"/>
          </a:xfrm>
          <a:prstGeom prst="rightArrow">
            <a:avLst>
              <a:gd fmla="val 54108" name="adj1"/>
              <a:gd fmla="val 63536" name="adj2"/>
            </a:avLst>
          </a:prstGeom>
          <a:solidFill>
            <a:srgbClr val="EFEFE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7" name="Google Shape;127;p24"/>
          <p:cNvSpPr/>
          <p:nvPr/>
        </p:nvSpPr>
        <p:spPr>
          <a:xfrm>
            <a:off x="6807263" y="3755113"/>
            <a:ext cx="1551000" cy="89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Nunito"/>
                <a:ea typeface="Nunito"/>
                <a:cs typeface="Nunito"/>
                <a:sym typeface="Nunito"/>
              </a:rPr>
              <a:t>Ordinal Encoder</a:t>
            </a:r>
            <a:endParaRPr b="1" sz="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Nunito"/>
                <a:ea typeface="Nunito"/>
                <a:cs typeface="Nunito"/>
                <a:sym typeface="Nunito"/>
              </a:rPr>
              <a:t>=============</a:t>
            </a:r>
            <a:endParaRPr b="1" sz="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Nunito"/>
                <a:ea typeface="Nunito"/>
                <a:cs typeface="Nunito"/>
                <a:sym typeface="Nunito"/>
              </a:rPr>
              <a:t>FX_ID:</a:t>
            </a:r>
            <a:r>
              <a:rPr lang="pt-BR" sz="800">
                <a:latin typeface="Nunito"/>
                <a:ea typeface="Nunito"/>
                <a:cs typeface="Nunito"/>
                <a:sym typeface="Nunito"/>
              </a:rPr>
              <a:t> Faixa etária</a:t>
            </a:r>
            <a:endParaRPr sz="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Nunito"/>
                <a:ea typeface="Nunito"/>
                <a:cs typeface="Nunito"/>
                <a:sym typeface="Nunito"/>
              </a:rPr>
              <a:t>P4:</a:t>
            </a:r>
            <a:r>
              <a:rPr lang="pt-BR" sz="800">
                <a:latin typeface="Nunito"/>
                <a:ea typeface="Nunito"/>
                <a:cs typeface="Nunito"/>
                <a:sym typeface="Nunito"/>
              </a:rPr>
              <a:t> Interesse na vida política</a:t>
            </a:r>
            <a:endParaRPr sz="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Nunito"/>
                <a:ea typeface="Nunito"/>
                <a:cs typeface="Nunito"/>
                <a:sym typeface="Nunito"/>
              </a:rPr>
              <a:t>REND1:</a:t>
            </a:r>
            <a:r>
              <a:rPr lang="pt-BR" sz="800">
                <a:latin typeface="Nunito"/>
                <a:ea typeface="Nunito"/>
                <a:cs typeface="Nunito"/>
                <a:sym typeface="Nunito"/>
              </a:rPr>
              <a:t> Renda individual</a:t>
            </a:r>
            <a:endParaRPr sz="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latin typeface="Nunito"/>
                <a:ea typeface="Nunito"/>
                <a:cs typeface="Nunito"/>
                <a:sym typeface="Nunito"/>
              </a:rPr>
              <a:t>REND2:</a:t>
            </a:r>
            <a:r>
              <a:rPr lang="pt-BR" sz="800">
                <a:latin typeface="Nunito"/>
                <a:ea typeface="Nunito"/>
                <a:cs typeface="Nunito"/>
                <a:sym typeface="Nunito"/>
              </a:rPr>
              <a:t> Renda Familiar</a:t>
            </a:r>
            <a:endParaRPr sz="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8" name="Google Shape;128;p24"/>
          <p:cNvSpPr/>
          <p:nvPr/>
        </p:nvSpPr>
        <p:spPr>
          <a:xfrm>
            <a:off x="3610038" y="3385213"/>
            <a:ext cx="3040800" cy="1639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/>
              <a:t>One Hot Encoder</a:t>
            </a:r>
            <a:endParaRPr b="1"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/>
              <a:t>==============</a:t>
            </a:r>
            <a:endParaRPr b="1"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/>
              <a:t>SEXO:</a:t>
            </a:r>
            <a:r>
              <a:rPr lang="pt-BR" sz="800"/>
              <a:t> Sexo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/>
              <a:t>ESCOLARIDADE: </a:t>
            </a:r>
            <a:r>
              <a:rPr lang="pt-BR" sz="800"/>
              <a:t>Escolaridade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/>
              <a:t>P1: </a:t>
            </a:r>
            <a:r>
              <a:rPr lang="pt-BR" sz="800"/>
              <a:t>Lembra o candidato que votou nas eleições de 2022 para: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/>
              <a:t>  _A:</a:t>
            </a:r>
            <a:r>
              <a:rPr lang="pt-BR" sz="800"/>
              <a:t> Deputado Estadual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/>
              <a:t>  _B:</a:t>
            </a:r>
            <a:r>
              <a:rPr lang="pt-BR" sz="800"/>
              <a:t> Deputado Federal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/>
              <a:t>  _C:</a:t>
            </a:r>
            <a:r>
              <a:rPr lang="pt-BR" sz="800"/>
              <a:t> Senador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/>
              <a:t>RACA: </a:t>
            </a:r>
            <a:r>
              <a:rPr lang="pt-BR" sz="800"/>
              <a:t>Raça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/>
              <a:t>RELIGIAO:</a:t>
            </a:r>
            <a:r>
              <a:rPr lang="pt-BR" sz="800"/>
              <a:t> Religião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/>
              <a:t>REGIAO:</a:t>
            </a:r>
            <a:r>
              <a:rPr lang="pt-BR" sz="800"/>
              <a:t> Região do país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/>
              <a:t>COND:</a:t>
            </a:r>
            <a:r>
              <a:rPr lang="pt-BR" sz="800"/>
              <a:t> Condição de municipio</a:t>
            </a:r>
            <a:endParaRPr sz="800"/>
          </a:p>
        </p:txBody>
      </p:sp>
      <p:sp>
        <p:nvSpPr>
          <p:cNvPr id="129" name="Google Shape;129;p24"/>
          <p:cNvSpPr/>
          <p:nvPr/>
        </p:nvSpPr>
        <p:spPr>
          <a:xfrm>
            <a:off x="6415013" y="2198463"/>
            <a:ext cx="427200" cy="657300"/>
          </a:xfrm>
          <a:prstGeom prst="rightArrow">
            <a:avLst>
              <a:gd fmla="val 54108" name="adj1"/>
              <a:gd fmla="val 63536" name="adj2"/>
            </a:avLst>
          </a:prstGeom>
          <a:solidFill>
            <a:srgbClr val="EFEFE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0" name="Google Shape;130;p24"/>
          <p:cNvSpPr/>
          <p:nvPr/>
        </p:nvSpPr>
        <p:spPr>
          <a:xfrm>
            <a:off x="6930038" y="2377213"/>
            <a:ext cx="1381800" cy="3573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Nunito"/>
                <a:ea typeface="Nunito"/>
                <a:cs typeface="Nunito"/>
                <a:sym typeface="Nunito"/>
              </a:rPr>
              <a:t>Agrupamento de categorias raras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2081725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0000" y="1442350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0013" y="2639063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9150" y="2195875"/>
            <a:ext cx="720000" cy="72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24"/>
          <p:cNvCxnSpPr>
            <a:stCxn id="131" idx="3"/>
            <a:endCxn id="132" idx="1"/>
          </p:cNvCxnSpPr>
          <p:nvPr/>
        </p:nvCxnSpPr>
        <p:spPr>
          <a:xfrm flipH="1" rot="10800000">
            <a:off x="1482000" y="1802425"/>
            <a:ext cx="597900" cy="6393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136" name="Google Shape;136;p24"/>
          <p:cNvCxnSpPr>
            <a:stCxn id="131" idx="3"/>
            <a:endCxn id="133" idx="1"/>
          </p:cNvCxnSpPr>
          <p:nvPr/>
        </p:nvCxnSpPr>
        <p:spPr>
          <a:xfrm>
            <a:off x="1482000" y="2441725"/>
            <a:ext cx="597900" cy="557400"/>
          </a:xfrm>
          <a:prstGeom prst="bentConnector3">
            <a:avLst>
              <a:gd fmla="val 5000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diamon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41" name="Google Shape;141;p25"/>
          <p:cNvSpPr txBox="1"/>
          <p:nvPr>
            <p:ph type="title"/>
          </p:nvPr>
        </p:nvSpPr>
        <p:spPr>
          <a:xfrm>
            <a:off x="507450" y="903650"/>
            <a:ext cx="6874500" cy="62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80">
                <a:solidFill>
                  <a:srgbClr val="D9D9D9"/>
                </a:solidFill>
              </a:rPr>
              <a:t>Classificador Random Forest - Aprendizado Supervisionado</a:t>
            </a:r>
            <a:endParaRPr sz="1880">
              <a:solidFill>
                <a:srgbClr val="D9D9D9"/>
              </a:solidFill>
            </a:endParaRPr>
          </a:p>
        </p:txBody>
      </p:sp>
      <p:sp>
        <p:nvSpPr>
          <p:cNvPr id="142" name="Google Shape;142;p25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43" name="Google Shape;143;p25"/>
          <p:cNvSpPr txBox="1"/>
          <p:nvPr/>
        </p:nvSpPr>
        <p:spPr>
          <a:xfrm>
            <a:off x="722363" y="2750725"/>
            <a:ext cx="1095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90%</a:t>
            </a:r>
            <a:r>
              <a:rPr lang="pt-BR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treinamento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0025" y="2131388"/>
            <a:ext cx="720000" cy="72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25"/>
          <p:cNvGrpSpPr/>
          <p:nvPr/>
        </p:nvGrpSpPr>
        <p:grpSpPr>
          <a:xfrm>
            <a:off x="2432525" y="1528538"/>
            <a:ext cx="1278000" cy="1925700"/>
            <a:chOff x="4857750" y="1595425"/>
            <a:chExt cx="1278000" cy="1925700"/>
          </a:xfrm>
        </p:grpSpPr>
        <p:sp>
          <p:nvSpPr>
            <p:cNvPr id="146" name="Google Shape;146;p25"/>
            <p:cNvSpPr/>
            <p:nvPr/>
          </p:nvSpPr>
          <p:spPr>
            <a:xfrm>
              <a:off x="4857750" y="1595425"/>
              <a:ext cx="1278000" cy="323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Nunito"/>
                  <a:ea typeface="Nunito"/>
                  <a:cs typeface="Nunito"/>
                  <a:sym typeface="Nunito"/>
                </a:rPr>
                <a:t>SEXO</a:t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47" name="Google Shape;147;p25"/>
            <p:cNvSpPr/>
            <p:nvPr/>
          </p:nvSpPr>
          <p:spPr>
            <a:xfrm>
              <a:off x="4857750" y="2034550"/>
              <a:ext cx="1278000" cy="323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latin typeface="Nunito"/>
                  <a:ea typeface="Nunito"/>
                  <a:cs typeface="Nunito"/>
                  <a:sym typeface="Nunito"/>
                </a:rPr>
                <a:t>ESCOLARIDADE</a:t>
              </a:r>
              <a:endParaRPr sz="11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48" name="Google Shape;148;p25"/>
            <p:cNvSpPr/>
            <p:nvPr/>
          </p:nvSpPr>
          <p:spPr>
            <a:xfrm>
              <a:off x="4857750" y="2473675"/>
              <a:ext cx="1278000" cy="323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Nunito"/>
                  <a:ea typeface="Nunito"/>
                  <a:cs typeface="Nunito"/>
                  <a:sym typeface="Nunito"/>
                </a:rPr>
                <a:t>RELIGIÃO</a:t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49" name="Google Shape;149;p25"/>
            <p:cNvSpPr/>
            <p:nvPr/>
          </p:nvSpPr>
          <p:spPr>
            <a:xfrm>
              <a:off x="4857750" y="3198025"/>
              <a:ext cx="1278000" cy="323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>
                  <a:latin typeface="Nunito"/>
                  <a:ea typeface="Nunito"/>
                  <a:cs typeface="Nunito"/>
                  <a:sym typeface="Nunito"/>
                </a:rPr>
                <a:t>REND2</a:t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pic>
          <p:nvPicPr>
            <p:cNvPr id="150" name="Google Shape;150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07838" y="2808488"/>
              <a:ext cx="377825" cy="377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1" name="Google Shape;151;p25"/>
          <p:cNvSpPr/>
          <p:nvPr/>
        </p:nvSpPr>
        <p:spPr>
          <a:xfrm>
            <a:off x="4577975" y="1919888"/>
            <a:ext cx="1754100" cy="114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Random Forest Classifier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1817663" y="1675075"/>
            <a:ext cx="427200" cy="1747500"/>
          </a:xfrm>
          <a:prstGeom prst="rightArrow">
            <a:avLst>
              <a:gd fmla="val 71837" name="adj1"/>
              <a:gd fmla="val 63536" name="adj2"/>
            </a:avLst>
          </a:prstGeom>
          <a:solidFill>
            <a:srgbClr val="EFEFE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3930638" y="1675075"/>
            <a:ext cx="427200" cy="1747500"/>
          </a:xfrm>
          <a:prstGeom prst="rightArrow">
            <a:avLst>
              <a:gd fmla="val 71837" name="adj1"/>
              <a:gd fmla="val 63536" name="adj2"/>
            </a:avLst>
          </a:prstGeom>
          <a:solidFill>
            <a:srgbClr val="EFEFE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4" name="Google Shape;154;p25"/>
          <p:cNvSpPr/>
          <p:nvPr/>
        </p:nvSpPr>
        <p:spPr>
          <a:xfrm>
            <a:off x="6552188" y="1617625"/>
            <a:ext cx="427200" cy="1747500"/>
          </a:xfrm>
          <a:prstGeom prst="rightArrow">
            <a:avLst>
              <a:gd fmla="val 71837" name="adj1"/>
              <a:gd fmla="val 63536" name="adj2"/>
            </a:avLst>
          </a:prstGeom>
          <a:solidFill>
            <a:srgbClr val="EFEFE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5" name="Google Shape;155;p25"/>
          <p:cNvSpPr/>
          <p:nvPr/>
        </p:nvSpPr>
        <p:spPr>
          <a:xfrm>
            <a:off x="7199525" y="2094263"/>
            <a:ext cx="1278000" cy="32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P2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6" name="Google Shape;156;p25"/>
          <p:cNvSpPr/>
          <p:nvPr/>
        </p:nvSpPr>
        <p:spPr>
          <a:xfrm>
            <a:off x="7199525" y="2565413"/>
            <a:ext cx="1278000" cy="32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P3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4166975" y="3946225"/>
            <a:ext cx="1260000" cy="288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Nunito"/>
                <a:ea typeface="Nunito"/>
                <a:cs typeface="Nunito"/>
                <a:sym typeface="Nunito"/>
              </a:rPr>
              <a:t>n_estimators: 100</a:t>
            </a:r>
            <a:endParaRPr sz="9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4166975" y="4271420"/>
            <a:ext cx="1260000" cy="288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Nunito"/>
                <a:ea typeface="Nunito"/>
                <a:cs typeface="Nunito"/>
                <a:sym typeface="Nunito"/>
              </a:rPr>
              <a:t>max_features: sqrt</a:t>
            </a:r>
            <a:endParaRPr sz="9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5483063" y="4271420"/>
            <a:ext cx="1260000" cy="288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Nunito"/>
                <a:ea typeface="Nunito"/>
                <a:cs typeface="Nunito"/>
                <a:sym typeface="Nunito"/>
              </a:rPr>
              <a:t>ccp_alpha: 10^-5</a:t>
            </a:r>
            <a:endParaRPr sz="9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4166975" y="4596625"/>
            <a:ext cx="2576100" cy="288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Nunito"/>
                <a:ea typeface="Nunito"/>
                <a:cs typeface="Nunito"/>
                <a:sym typeface="Nunito"/>
              </a:rPr>
              <a:t>min_samples_leaf: 1</a:t>
            </a:r>
            <a:endParaRPr sz="9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5483063" y="3946225"/>
            <a:ext cx="1260000" cy="288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Nunito"/>
                <a:ea typeface="Nunito"/>
                <a:cs typeface="Nunito"/>
                <a:sym typeface="Nunito"/>
              </a:rPr>
              <a:t>max_depth: 30</a:t>
            </a:r>
            <a:endParaRPr sz="9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2" name="Google Shape;162;p25"/>
          <p:cNvSpPr/>
          <p:nvPr/>
        </p:nvSpPr>
        <p:spPr>
          <a:xfrm>
            <a:off x="4166975" y="3621025"/>
            <a:ext cx="2576100" cy="288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Nunito"/>
                <a:ea typeface="Nunito"/>
                <a:cs typeface="Nunito"/>
                <a:sym typeface="Nunito"/>
              </a:rPr>
              <a:t>Hiper-parâmetros:</a:t>
            </a:r>
            <a:endParaRPr b="1" sz="12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/>
        </p:nvSpPr>
        <p:spPr>
          <a:xfrm>
            <a:off x="896225" y="1684800"/>
            <a:ext cx="3346500" cy="2839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Voc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ê é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 uma pessoa do sexo masculino, tem escolaridade Superior incompleto, 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religião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Católica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Apostólica 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Romana, 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é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 da faixa 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etária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 55 A 64, 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é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 da ra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ç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a Parda, renda pessoal de MAIS DE 1 A 2 sal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á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rios m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íni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imos, renda familiar de MAIS DE 2 A 5 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salários míniimos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, mora na regi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ã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o CENTRO OESTE do pa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í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s, em um munic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í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pio com condi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çã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o INTERIOR.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Voc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ê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 tem Muita vontade em participar da vida pol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í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tica.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Voc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ê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 se lembra em quem votou para Deputado Estadual nas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elei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çõ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es gerais de 2022.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Voc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ê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 se lembra em quem votou para Deputado Federal nas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eleições gerais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 de 2022.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Você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 n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ã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o lembra em quem votou para Senador nas 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eleições gerais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 de 2022.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Baseie sua resposta nas caracter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í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sticas do perfil e no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comportamento t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ípi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ico de indiv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í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duos semelhantes.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Pergunta: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Alternativas: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Responda com APENAS uma das op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çõe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s exatamente como escrita.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ã</a:t>
            </a:r>
            <a:r>
              <a:rPr lang="pt-BR" sz="750">
                <a:latin typeface="Courier New"/>
                <a:ea typeface="Courier New"/>
                <a:cs typeface="Courier New"/>
                <a:sym typeface="Courier New"/>
              </a:rPr>
              <a:t>o explique sua resposta.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7" name="Google Shape;167;p26"/>
          <p:cNvSpPr txBox="1"/>
          <p:nvPr>
            <p:ph type="title"/>
          </p:nvPr>
        </p:nvSpPr>
        <p:spPr>
          <a:xfrm>
            <a:off x="659850" y="888600"/>
            <a:ext cx="34836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D9D9D9"/>
                </a:solidFill>
              </a:rPr>
              <a:t>Large Language Model</a:t>
            </a:r>
            <a:endParaRPr sz="2200">
              <a:solidFill>
                <a:srgbClr val="D9D9D9"/>
              </a:solidFill>
            </a:endParaRPr>
          </a:p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4941551" y="1764875"/>
            <a:ext cx="37971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Modelo Llama3 foi utilizado para todos os testes.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Estrat</a:t>
            </a:r>
            <a:r>
              <a:rPr lang="pt-BR"/>
              <a:t>égia de </a:t>
            </a:r>
            <a:r>
              <a:rPr lang="pt-BR"/>
              <a:t>silicon sampling por meio da</a:t>
            </a:r>
            <a:r>
              <a:rPr lang="pt-BR"/>
              <a:t> i</a:t>
            </a:r>
            <a:r>
              <a:rPr lang="pt-BR"/>
              <a:t>nje</a:t>
            </a:r>
            <a:r>
              <a:rPr lang="pt-BR"/>
              <a:t>ção de p</a:t>
            </a:r>
            <a:r>
              <a:rPr lang="pt-BR"/>
              <a:t>ersonas por prompts.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Composto por três passos: gerar, comparar e representar.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sp>
        <p:nvSpPr>
          <p:cNvPr id="174" name="Google Shape;174;p27"/>
          <p:cNvSpPr txBox="1"/>
          <p:nvPr>
            <p:ph type="title"/>
          </p:nvPr>
        </p:nvSpPr>
        <p:spPr>
          <a:xfrm>
            <a:off x="507450" y="888600"/>
            <a:ext cx="5428800" cy="537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D9D9D9"/>
                </a:solidFill>
              </a:rPr>
              <a:t>Métricas</a:t>
            </a:r>
            <a:r>
              <a:rPr lang="pt-BR" sz="2200">
                <a:solidFill>
                  <a:srgbClr val="D9D9D9"/>
                </a:solidFill>
              </a:rPr>
              <a:t>: acurácia, recall e f1-score</a:t>
            </a:r>
            <a:endParaRPr sz="2200">
              <a:solidFill>
                <a:srgbClr val="D9D9D9"/>
              </a:solidFill>
            </a:endParaRPr>
          </a:p>
        </p:txBody>
      </p:sp>
      <p:graphicFrame>
        <p:nvGraphicFramePr>
          <p:cNvPr id="175" name="Google Shape;175;p27"/>
          <p:cNvGraphicFramePr/>
          <p:nvPr/>
        </p:nvGraphicFramePr>
        <p:xfrm>
          <a:off x="537763" y="168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{8321E0E5-0763-43FB-9931-AFBFB8CBDC93}</a:tableStyleId>
              </a:tblPr>
              <a:tblGrid>
                <a:gridCol w="985025"/>
                <a:gridCol w="882675"/>
                <a:gridCol w="882675"/>
                <a:gridCol w="882675"/>
                <a:gridCol w="882675"/>
                <a:gridCol w="882675"/>
              </a:tblGrid>
              <a:tr h="525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Questão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Acurácia (%)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Recall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F1-Score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575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LLaMA 3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dk1"/>
                          </a:solidFill>
                        </a:rPr>
                        <a:t>P2_1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980000"/>
                          </a:solidFill>
                        </a:rPr>
                        <a:t>0.11</a:t>
                      </a:r>
                      <a:endParaRPr sz="1100">
                        <a:solidFill>
                          <a:srgbClr val="98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980000"/>
                          </a:solidFill>
                        </a:rPr>
                        <a:t>0.11</a:t>
                      </a:r>
                      <a:endParaRPr sz="1100">
                        <a:solidFill>
                          <a:srgbClr val="98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980000"/>
                          </a:solidFill>
                        </a:rPr>
                        <a:t>0.06</a:t>
                      </a:r>
                      <a:endParaRPr sz="1100">
                        <a:solidFill>
                          <a:srgbClr val="98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57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dk1"/>
                          </a:solidFill>
                        </a:rPr>
                        <a:t>P3_1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980000"/>
                          </a:solidFill>
                        </a:rPr>
                        <a:t>0.24</a:t>
                      </a:r>
                      <a:endParaRPr sz="1100">
                        <a:solidFill>
                          <a:srgbClr val="98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980000"/>
                          </a:solidFill>
                        </a:rPr>
                        <a:t>0.24</a:t>
                      </a:r>
                      <a:endParaRPr sz="1100">
                        <a:solidFill>
                          <a:srgbClr val="98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980000"/>
                          </a:solidFill>
                        </a:rPr>
                        <a:t>0.21</a:t>
                      </a:r>
                      <a:endParaRPr sz="1100">
                        <a:solidFill>
                          <a:srgbClr val="98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5750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chemeClr val="dk1"/>
                          </a:solidFill>
                        </a:rPr>
                        <a:t>Random Forest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dk1"/>
                          </a:solidFill>
                        </a:rPr>
                        <a:t>P2_1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38761D"/>
                          </a:solidFill>
                        </a:rPr>
                        <a:t>0.17</a:t>
                      </a:r>
                      <a:endParaRPr sz="11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38761D"/>
                          </a:solidFill>
                        </a:rPr>
                        <a:t>0.17</a:t>
                      </a:r>
                      <a:endParaRPr sz="11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38761D"/>
                          </a:solidFill>
                        </a:rPr>
                        <a:t>0.16</a:t>
                      </a:r>
                      <a:endParaRPr sz="11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57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chemeClr val="dk1"/>
                          </a:solidFill>
                        </a:rPr>
                        <a:t>P3_1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38761D"/>
                          </a:solidFill>
                        </a:rPr>
                        <a:t>0.28</a:t>
                      </a:r>
                      <a:endParaRPr sz="11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38761D"/>
                          </a:solidFill>
                        </a:rPr>
                        <a:t>0.28</a:t>
                      </a:r>
                      <a:endParaRPr sz="11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38761D"/>
                          </a:solidFill>
                        </a:rPr>
                        <a:t>0.26</a:t>
                      </a:r>
                      <a:endParaRPr sz="11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27"/>
          <p:cNvSpPr txBox="1"/>
          <p:nvPr/>
        </p:nvSpPr>
        <p:spPr>
          <a:xfrm>
            <a:off x="6376700" y="3601750"/>
            <a:ext cx="2284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/>
              <a:t>Legenda:</a:t>
            </a:r>
            <a:br>
              <a:rPr lang="pt-BR" sz="1200"/>
            </a:br>
            <a:r>
              <a:rPr lang="pt-BR" sz="1200"/>
              <a:t>VP → Verdadeiro Positivo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VN → Verdadeiro Negativo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FP → Falso Positivo</a:t>
            </a:r>
            <a:br>
              <a:rPr lang="pt-BR" sz="1200"/>
            </a:br>
            <a:r>
              <a:rPr lang="pt-BR" sz="1200"/>
              <a:t>FN → Falso Negativo</a:t>
            </a:r>
            <a:endParaRPr sz="1200"/>
          </a:p>
        </p:txBody>
      </p:sp>
      <p:pic>
        <p:nvPicPr>
          <p:cNvPr id="177" name="Google Shape;177;p27" title="Screenshot 2026-04-21 at 19.07.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3250" y="1508825"/>
            <a:ext cx="2737574" cy="17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5907025" y="1632000"/>
            <a:ext cx="3738600" cy="160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00"/>
                </a:solidFill>
              </a:rPr>
              <a:t>Métrica: Jensen-Shannon Divergence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00"/>
                </a:solidFill>
              </a:rPr>
              <a:t>Interpretação: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>
                <a:solidFill>
                  <a:srgbClr val="000000"/>
                </a:solidFill>
              </a:rPr>
              <a:t>0 → distribuições iguais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pt-BR">
                <a:solidFill>
                  <a:srgbClr val="000000"/>
                </a:solidFill>
              </a:rPr>
              <a:t>1 → completamente diferentes</a:t>
            </a:r>
            <a:endParaRPr/>
          </a:p>
        </p:txBody>
      </p:sp>
      <p:sp>
        <p:nvSpPr>
          <p:cNvPr id="183" name="Google Shape;183;p28"/>
          <p:cNvSpPr txBox="1"/>
          <p:nvPr>
            <p:ph type="title"/>
          </p:nvPr>
        </p:nvSpPr>
        <p:spPr>
          <a:xfrm>
            <a:off x="659850" y="888600"/>
            <a:ext cx="59547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D9D9D9"/>
                </a:solidFill>
              </a:rPr>
              <a:t>Avaliação</a:t>
            </a:r>
            <a:r>
              <a:rPr lang="pt-BR" sz="2200">
                <a:solidFill>
                  <a:srgbClr val="D9D9D9"/>
                </a:solidFill>
              </a:rPr>
              <a:t> de distribuição - JSD</a:t>
            </a:r>
            <a:endParaRPr sz="2200">
              <a:solidFill>
                <a:srgbClr val="D9D9D9"/>
              </a:solidFill>
            </a:endParaRPr>
          </a:p>
        </p:txBody>
      </p:sp>
      <p:graphicFrame>
        <p:nvGraphicFramePr>
          <p:cNvPr id="184" name="Google Shape;184;p28"/>
          <p:cNvGraphicFramePr/>
          <p:nvPr/>
        </p:nvGraphicFramePr>
        <p:xfrm>
          <a:off x="475488" y="175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{8321E0E5-0763-43FB-9931-AFBFB8CBDC93}</a:tableStyleId>
              </a:tblPr>
              <a:tblGrid>
                <a:gridCol w="1413675"/>
                <a:gridCol w="942425"/>
                <a:gridCol w="942425"/>
                <a:gridCol w="942425"/>
                <a:gridCol w="942425"/>
              </a:tblGrid>
              <a:tr h="588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Questão</a:t>
                      </a:r>
                      <a:endParaRPr sz="11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LLaMA 3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Random Forest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42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P2_1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990000"/>
                          </a:solidFill>
                        </a:rPr>
                        <a:t>0,2674</a:t>
                      </a:r>
                      <a:endParaRPr sz="1100">
                        <a:solidFill>
                          <a:srgbClr val="99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99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38761D"/>
                          </a:solidFill>
                        </a:rPr>
                        <a:t>0,0365</a:t>
                      </a:r>
                      <a:endParaRPr sz="11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98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P3_1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990000"/>
                          </a:solidFill>
                        </a:rPr>
                        <a:t>0,1044</a:t>
                      </a:r>
                      <a:endParaRPr sz="1100">
                        <a:solidFill>
                          <a:srgbClr val="99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38761D"/>
                          </a:solidFill>
                        </a:rPr>
                        <a:t>0</a:t>
                      </a:r>
                      <a:r>
                        <a:rPr lang="pt-BR" sz="1100">
                          <a:solidFill>
                            <a:srgbClr val="38761D"/>
                          </a:solidFill>
                        </a:rPr>
                        <a:t>,0268</a:t>
                      </a:r>
                      <a:endParaRPr sz="11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pic>
        <p:nvPicPr>
          <p:cNvPr id="185" name="Google Shape;185;p28" title="jsd_distribution_P2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5674" y="3897388"/>
            <a:ext cx="1250250" cy="1000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8" title="jsd_distribution_P3_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1200" y="3897407"/>
            <a:ext cx="1250250" cy="1000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8" title="P2_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025" y="3968898"/>
            <a:ext cx="2286000" cy="857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8" title="P3_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69475" y="3968887"/>
            <a:ext cx="2286012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8"/>
          <p:cNvSpPr txBox="1"/>
          <p:nvPr>
            <p:ph type="title"/>
          </p:nvPr>
        </p:nvSpPr>
        <p:spPr>
          <a:xfrm>
            <a:off x="283475" y="3491675"/>
            <a:ext cx="510000" cy="441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D9D9D9"/>
                </a:solidFill>
              </a:rPr>
              <a:t>LLM:</a:t>
            </a:r>
            <a:endParaRPr sz="1200">
              <a:solidFill>
                <a:srgbClr val="D9D9D9"/>
              </a:solidFill>
            </a:endParaRPr>
          </a:p>
        </p:txBody>
      </p:sp>
      <p:sp>
        <p:nvSpPr>
          <p:cNvPr id="190" name="Google Shape;190;p28"/>
          <p:cNvSpPr txBox="1"/>
          <p:nvPr>
            <p:ph type="title"/>
          </p:nvPr>
        </p:nvSpPr>
        <p:spPr>
          <a:xfrm>
            <a:off x="5576000" y="3491675"/>
            <a:ext cx="1329600" cy="441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D9D9D9"/>
                </a:solidFill>
              </a:rPr>
              <a:t>Supervisionado</a:t>
            </a:r>
            <a:r>
              <a:rPr lang="pt-BR" sz="1200">
                <a:solidFill>
                  <a:srgbClr val="D9D9D9"/>
                </a:solidFill>
              </a:rPr>
              <a:t>:</a:t>
            </a:r>
            <a:endParaRPr sz="120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</a:t>
            </a:r>
            <a:r>
              <a:rPr lang="pt-BR"/>
              <a:t>ão</a:t>
            </a:r>
            <a:endParaRPr/>
          </a:p>
        </p:txBody>
      </p:sp>
      <p:sp>
        <p:nvSpPr>
          <p:cNvPr id="195" name="Google Shape;195;p29"/>
          <p:cNvSpPr txBox="1"/>
          <p:nvPr>
            <p:ph idx="1" type="body"/>
          </p:nvPr>
        </p:nvSpPr>
        <p:spPr>
          <a:xfrm>
            <a:off x="507450" y="1094550"/>
            <a:ext cx="4380000" cy="295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Random Forest com d</a:t>
            </a:r>
            <a:r>
              <a:rPr lang="pt-BR"/>
              <a:t>esempenho superior </a:t>
            </a:r>
            <a:r>
              <a:rPr lang="pt-BR"/>
              <a:t> ao LLaMA3</a:t>
            </a:r>
            <a:r>
              <a:rPr lang="pt-BR"/>
              <a:t> sem treinamento;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Score dos modelos com resultados abaixo de 30% no geral;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Modelo de aprendizado supervisionado se mostrou promissor na distribuição populacional;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2500"/>
              </a:spcBef>
              <a:spcAft>
                <a:spcPts val="2500"/>
              </a:spcAft>
              <a:buSzPts val="1400"/>
              <a:buChar char="●"/>
            </a:pPr>
            <a:r>
              <a:rPr lang="pt-BR"/>
              <a:t>Viés de treinamento do modelo LLaMA3 pode distanciar da realidade sociodemográfica do universo da pesquisa.</a:t>
            </a:r>
            <a:endParaRPr/>
          </a:p>
        </p:txBody>
      </p:sp>
      <p:sp>
        <p:nvSpPr>
          <p:cNvPr id="196" name="Google Shape;196;p29"/>
          <p:cNvSpPr txBox="1"/>
          <p:nvPr/>
        </p:nvSpPr>
        <p:spPr>
          <a:xfrm>
            <a:off x="1959450" y="4578425"/>
            <a:ext cx="522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As conclusões foram baseadas dentro do universo da pesquisa realizada (base de dados, metodologia e modelos utilizados)</a:t>
            </a:r>
            <a:endParaRPr sz="12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7" name="Google Shape;197;p29" title="Classification-Random-Forest-Random-Forest-In-R-Edureka-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4514" y="2154562"/>
            <a:ext cx="2419750" cy="190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4402" y="782125"/>
            <a:ext cx="2543835" cy="16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5800" y="1720837"/>
            <a:ext cx="848626" cy="84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Trabalhos futuros</a:t>
            </a:r>
            <a:endParaRPr/>
          </a:p>
        </p:txBody>
      </p:sp>
      <p:sp>
        <p:nvSpPr>
          <p:cNvPr id="204" name="Google Shape;204;p30"/>
          <p:cNvSpPr txBox="1"/>
          <p:nvPr>
            <p:ph idx="1" type="body"/>
          </p:nvPr>
        </p:nvSpPr>
        <p:spPr>
          <a:xfrm>
            <a:off x="507450" y="1605125"/>
            <a:ext cx="7436400" cy="19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Avaliar outras técnicas de </a:t>
            </a:r>
            <a:r>
              <a:rPr lang="pt-BR"/>
              <a:t>prompting para o LLM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Realizar Fine Tunning do LLM em dados de pesquisas dentro do cenário Brasileiro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Utilizar técnicas de explicabilidade para as features utilizadas na pesquisa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2500"/>
              </a:spcBef>
              <a:spcAft>
                <a:spcPts val="2500"/>
              </a:spcAft>
              <a:buSzPts val="1400"/>
              <a:buChar char="●"/>
            </a:pPr>
            <a:r>
              <a:rPr lang="pt-BR"/>
              <a:t>Avaliar outros LLMs para aumentar a comparação entre modelos distintos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5967" y="3628375"/>
            <a:ext cx="1307533" cy="12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1"/>
          <p:cNvSpPr txBox="1"/>
          <p:nvPr>
            <p:ph type="title"/>
          </p:nvPr>
        </p:nvSpPr>
        <p:spPr>
          <a:xfrm>
            <a:off x="3787200" y="2345250"/>
            <a:ext cx="1569600" cy="45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Obrigado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business review">
  <a:themeElements>
    <a:clrScheme name="Simple Light">
      <a:dk1>
        <a:srgbClr val="131313"/>
      </a:dk1>
      <a:lt1>
        <a:srgbClr val="FAFAFA"/>
      </a:lt1>
      <a:dk2>
        <a:srgbClr val="B5B5B7"/>
      </a:dk2>
      <a:lt2>
        <a:srgbClr val="EAE1E2"/>
      </a:lt2>
      <a:accent1>
        <a:srgbClr val="7D57AE"/>
      </a:accent1>
      <a:accent2>
        <a:srgbClr val="E8C8C7"/>
      </a:accent2>
      <a:accent3>
        <a:srgbClr val="2F5C7C"/>
      </a:accent3>
      <a:accent4>
        <a:srgbClr val="DECEE8"/>
      </a:accent4>
      <a:accent5>
        <a:srgbClr val="B0BFDE"/>
      </a:accent5>
      <a:accent6>
        <a:srgbClr val="DDEAFB"/>
      </a:accent6>
      <a:hlink>
        <a:srgbClr val="2F5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